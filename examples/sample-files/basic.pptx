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BDF from PowerPoint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Slides rendered directly from DrawingML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 and levels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level bullet with enough words to wrap onto a second line inside the placeholder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r>
              <a:rPr>
                <a:hlinkClick r:id="rId2"/>
              </a:rPr>
              <a:t>A link to example.com</a:t>
            </a:r>
          </a:p>
          <a:p>
            <a:pPr lvl="1">
              <a:buAutoNum type="arabicPeriod"/>
            </a:pPr>
            <a:r>
              <a:t>numbered one</a:t>
            </a:r>
          </a:p>
          <a:p>
            <a:pPr lvl="1">
              <a:buAutoNum type="arabicPeriod"/>
            </a:pPr>
            <a:r>
              <a:t>numbered two</a:t>
            </a:r>
          </a:p>
          <a:p>
            <a:pPr lvl="1">
              <a:buAutoNum type="arabicPeriod"/>
            </a:pPr>
            <a:r>
              <a:t>numbered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1463040"/>
            <a:ext cx="173736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 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68879" y="1463040"/>
            <a:ext cx="1737360" cy="1097280"/>
          </a:xfrm>
          <a:prstGeom prst="roundRect">
            <a:avLst/>
          </a:prstGeom>
          <a:gradFill rotWithShape="1">
            <a:gsLst>
              <a:gs pos="0">
                <a:srgbClr val="FFC000"/>
              </a:gs>
              <a:gs pos="100000">
                <a:srgbClr val="C00040"/>
              </a:gs>
            </a:gsLst>
            <a:lin scaled="0" ang="18900000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0" y="1463040"/>
            <a:ext cx="1737360" cy="1097280"/>
          </a:xfrm>
          <a:prstGeom prst="ellipse">
            <a:avLst/>
          </a:prstGeom>
          <a:solidFill>
            <a:srgbClr val="2E8B57"/>
          </a:solidFill>
          <a:ln w="3810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Isosceles Triangle 5"/>
          <p:cNvSpPr/>
          <p:nvPr/>
        </p:nvSpPr>
        <p:spPr>
          <a:xfrm>
            <a:off x="6675120" y="1463040"/>
            <a:ext cx="1737360" cy="1097280"/>
          </a:xfrm>
          <a:prstGeom prst="triangl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65760" y="2926080"/>
            <a:ext cx="1737360" cy="109728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Text 4</a:t>
            </a:r>
          </a:p>
        </p:txBody>
      </p:sp>
      <p:sp>
        <p:nvSpPr>
          <p:cNvPr id="8" name="5-Point Star 7"/>
          <p:cNvSpPr/>
          <p:nvPr/>
        </p:nvSpPr>
        <p:spPr>
          <a:xfrm rot="1200000">
            <a:off x="2468879" y="2926080"/>
            <a:ext cx="1737360" cy="1097280"/>
          </a:xfrm>
          <a:prstGeom prst="star5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eart 8"/>
          <p:cNvSpPr/>
          <p:nvPr/>
        </p:nvSpPr>
        <p:spPr>
          <a:xfrm>
            <a:off x="4572000" y="2926080"/>
            <a:ext cx="1737360" cy="1097280"/>
          </a:xfrm>
          <a:prstGeom prst="hear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n 9"/>
          <p:cNvSpPr/>
          <p:nvPr/>
        </p:nvSpPr>
        <p:spPr>
          <a:xfrm>
            <a:off x="6675120" y="2926080"/>
            <a:ext cx="1737360" cy="1097280"/>
          </a:xfrm>
          <a:prstGeom prst="ca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457200" y="4572000"/>
            <a:ext cx="3657600" cy="1280160"/>
          </a:xfrm>
          <a:prstGeom prst="line">
            <a:avLst/>
          </a:prstGeom>
          <a:ln w="254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" name="Group 11"/>
          <p:cNvGrpSpPr/>
          <p:nvPr/>
        </p:nvGrpSpPr>
        <p:grpSpPr>
          <a:xfrm rot="600000">
            <a:off x="4754880" y="4572000"/>
            <a:ext cx="2743200" cy="1188720"/>
            <a:chOff x="4754880" y="4572000"/>
            <a:chExt cx="2743200" cy="1188720"/>
          </a:xfrm>
        </p:grpSpPr>
        <p:sp>
          <p:nvSpPr>
            <p:cNvPr id="13" name="Rectangle 12"/>
            <p:cNvSpPr/>
            <p:nvPr/>
          </p:nvSpPr>
          <p:spPr>
            <a:xfrm>
              <a:off x="4754880" y="4572000"/>
              <a:ext cx="1097280" cy="73152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grp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6035040" y="4846320"/>
              <a:ext cx="1463040" cy="9144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74320"/>
            <a:ext cx="3840480" cy="9144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pPr algn="l"/>
            <a:r>
              <a:t>Aligned left: the quick brown fox jumps over the lazy dog and keeps running.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325880"/>
            <a:ext cx="3840480" cy="9144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pPr algn="ctr"/>
            <a:r>
              <a:t>Aligned center: the quick brown fox jumps over the lazy dog and keeps running.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377440"/>
            <a:ext cx="3840480" cy="9144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pPr algn="r"/>
            <a:r>
              <a:t>Aligned right: the quick brown fox jumps over the lazy dog and keeps running.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429000"/>
            <a:ext cx="3840480" cy="914400"/>
          </a:xfrm>
          <a:prstGeom prst="rect">
            <a:avLst/>
          </a:prstGeom>
          <a:noFill/>
          <a:ln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pPr algn="just"/>
            <a:r>
              <a:t>Aligned justify: the quick brown fox jumps over the lazy dog and keeps running.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274320"/>
            <a:ext cx="42976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日本語の文章は、単語の区切りに空白を使わないため、文字と文字の間で改行します。句読点「、」や「。」は行頭に来ません。</a:t>
            </a:r>
          </a:p>
          <a:p>
            <a:r>
              <a:rPr b="1"/>
              <a:t>混在 mixed テキスト</a:t>
            </a:r>
            <a:r>
              <a:t> x</a:t>
            </a:r>
            <a:r>
              <a:rPr baseline="30000"/>
              <a:t>2</a:t>
            </a:r>
            <a:r>
              <a:rPr u="sng"/>
              <a:t> underline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2743200"/>
            <a:ext cx="1097280" cy="3474720"/>
          </a:xfrm>
          <a:prstGeom prst="rect">
            <a:avLst/>
          </a:prstGeom>
          <a:solidFill>
            <a:srgbClr val="F2F2F2"/>
          </a:solidFill>
        </p:spPr>
        <p:txBody>
          <a:bodyPr wrap="none" vert="eaVert">
            <a:spAutoFit/>
          </a:bodyPr>
          <a:lstStyle/>
          <a:p>
            <a:pPr>
              <a:defRPr sz="2400"/>
            </a:pPr>
            <a:r>
              <a:t>縦書きのテキスト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2743200"/>
            <a:ext cx="2926080" cy="1280160"/>
          </a:xfrm>
          <a:prstGeom prst="rect">
            <a:avLst/>
          </a:prstGeom>
          <a:solidFill>
            <a:srgbClr val="DDEBF7"/>
          </a:solidFill>
        </p:spPr>
        <p:txBody>
          <a:bodyPr wrap="square" anchor="ctr">
            <a:spAutoFit/>
          </a:bodyPr>
          <a:lstStyle/>
          <a:p>
            <a:pPr algn="ctr"/>
            <a:r>
              <a:t>Middle anchored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and table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10000" r="10000"/>
          <a:stretch>
            <a:fillRect/>
          </a:stretch>
        </p:blipFill>
        <p:spPr>
          <a:xfrm>
            <a:off x="457200" y="1463040"/>
            <a:ext cx="2926080" cy="219456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0" y="1463040"/>
          <a:ext cx="47548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457200">
                <a:tc>
                  <a:txBody>
                    <a:bodyPr/>
                    <a:lstStyle/>
                    <a:p>
                      <a:r>
                        <a:t>Header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Header 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r2c2</a:t>
                      </a:r>
                    </a:p>
                  </a:txBody>
                  <a:tcPr/>
                </a:tc>
              </a:tr>
              <a:tr h="457200">
                <a:tc gridSpan="2">
                  <a:txBody>
                    <a:bodyPr/>
                    <a:lstStyle/>
                    <a:p>
                      <a:r>
                        <a:t>merged cell with longer text that wraps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r3c2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Hidden slide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test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